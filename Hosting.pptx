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09" r:id="rId2"/>
    <p:sldId id="314" r:id="rId3"/>
    <p:sldId id="345" r:id="rId4"/>
    <p:sldId id="346" r:id="rId5"/>
    <p:sldId id="260" r:id="rId6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Destaqu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Sem Estilo, Tabela com Grelh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47"/>
    <p:restoredTop sz="94655"/>
  </p:normalViewPr>
  <p:slideViewPr>
    <p:cSldViewPr>
      <p:cViewPr varScale="1">
        <p:scale>
          <a:sx n="105" d="100"/>
          <a:sy n="105" d="100"/>
        </p:scale>
        <p:origin x="97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quarter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ADB6FF1F-555E-4388-A8B0-D1E524B355D1}" type="datetimeFigureOut">
              <a:rPr lang="pt-PT" smtClean="0"/>
              <a:pPr/>
              <a:t>14/06/2026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3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CD9FB018-1958-45C1-ABFF-E1E983EC4F43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34781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4021295" y="0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/>
          <a:lstStyle>
            <a:lvl1pPr algn="r">
              <a:defRPr sz="1200"/>
            </a:lvl1pPr>
          </a:lstStyle>
          <a:p>
            <a:fld id="{E77E319B-B046-487F-8D03-B96E4F1A43D0}" type="datetimeFigureOut">
              <a:rPr lang="pt-PT" smtClean="0"/>
              <a:pPr/>
              <a:t>14/06/2026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68" tIns="47384" rIns="94768" bIns="47384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768" tIns="47384" rIns="94768" bIns="47384" rtlCol="0">
            <a:normAutofit/>
          </a:bodyPr>
          <a:lstStyle/>
          <a:p>
            <a:pPr lvl="0"/>
            <a:r>
              <a:rPr lang="pt-PT"/>
              <a:t>Clique para editar os estilos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3" cy="511731"/>
          </a:xfrm>
          <a:prstGeom prst="rect">
            <a:avLst/>
          </a:prstGeom>
        </p:spPr>
        <p:txBody>
          <a:bodyPr vert="horz" lIns="94768" tIns="47384" rIns="94768" bIns="47384" rtlCol="0" anchor="b"/>
          <a:lstStyle>
            <a:lvl1pPr algn="r">
              <a:defRPr sz="1200"/>
            </a:lvl1pPr>
          </a:lstStyle>
          <a:p>
            <a:fld id="{F3DD545E-D36A-4832-938A-2ECADA69E4C6}" type="slidenum">
              <a:rPr lang="pt-PT" smtClean="0"/>
              <a:pPr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3776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2</a:t>
            </a:fld>
            <a:endParaRPr lang="pt-PT">
              <a:latin typeface="Arial" pitchFamily="34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7051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258E-E535-A03B-6B16-A6F32C9F1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CAFA6E78-D91B-924D-D5BB-A1EEEF124C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3</a:t>
            </a:fld>
            <a:endParaRPr lang="pt-PT" dirty="0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A2AAD311-091D-373E-2A06-AD62BAFB77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EE479FAC-3537-4603-81FD-9B216161CF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pt-PT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882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016D6-7A40-ECAC-7A56-3A04B5C3A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76BACA77-E4AB-E04D-CCA5-9F5857D2EE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7D1F5F-AB60-452E-AA79-64E25350F70B}" type="slidenum">
              <a:rPr lang="pt-PT" smtClean="0">
                <a:latin typeface="Arial" pitchFamily="34" charset="0"/>
              </a:rPr>
              <a:pPr/>
              <a:t>4</a:t>
            </a:fld>
            <a:endParaRPr lang="pt-PT" dirty="0">
              <a:latin typeface="Arial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A82C1F8-AC89-573D-092E-E0BE3DE8F7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F5D7A916-E61F-1A9C-E82B-11018806B4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pt-PT" dirty="0"/>
              <a:t>Em Portugal, os apoios nacionais não costumam oferecer </a:t>
            </a:r>
            <a:r>
              <a:rPr lang="pt-PT" dirty="0" err="1"/>
              <a:t>hosting</a:t>
            </a:r>
            <a:r>
              <a:rPr lang="pt-PT" dirty="0"/>
              <a:t> gratuito diretamente. Normalmente, estes apoios estão mais focados no desenvolvimento do projeto, incubação, inovação e criação de empresas.</a:t>
            </a:r>
          </a:p>
          <a:p>
            <a:r>
              <a:rPr lang="pt-PT" dirty="0"/>
              <a:t>Ou seja, podem ajudar com financiamento, mentoria, programas de aceleração ou apoio à digitalização, mas a escolha e o pagamento do alojamento continuam, normalmente, a ser responsabilidade da equipa ou da empresa.</a:t>
            </a:r>
          </a:p>
        </p:txBody>
      </p:sp>
    </p:spTree>
    <p:extLst>
      <p:ext uri="{BB962C8B-B14F-4D97-AF65-F5344CB8AC3E}">
        <p14:creationId xmlns:p14="http://schemas.microsoft.com/office/powerpoint/2010/main" val="706282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/>
              <a:t>Faça clique para editar o estilo do subtítulo do modelo global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/>
              <a:t>Clique para editar os estilos de texto do modelo global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do título do Modelo Global</a:t>
            </a:r>
            <a:endParaRPr lang="en-US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3E61B-3AB3-490F-90D4-269C8A444AE7}" type="datetimeFigureOut">
              <a:rPr lang="en-US" smtClean="0"/>
              <a:pPr/>
              <a:t>6/14/2026</a:t>
            </a:fld>
            <a:endParaRPr lang="en-US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45C66F-FC7B-4C52-931F-EAABACA1CBDF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772" y="0"/>
            <a:ext cx="9982200" cy="6858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28800" y="2768391"/>
            <a:ext cx="5486400" cy="552329"/>
          </a:xfrm>
        </p:spPr>
        <p:txBody>
          <a:bodyPr>
            <a:normAutofit fontScale="90000"/>
          </a:bodyPr>
          <a:lstStyle/>
          <a:p>
            <a:r>
              <a:rPr lang="pt-PT" sz="2500" b="1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3276600"/>
            <a:ext cx="5848350" cy="1600200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70000"/>
              </a:lnSpc>
            </a:pPr>
            <a:r>
              <a:rPr lang="pt-PT" b="1" dirty="0">
                <a:solidFill>
                  <a:srgbClr val="FFFF00"/>
                </a:solidFill>
                <a:latin typeface="Arial" charset="0"/>
                <a:ea typeface="Arial" charset="0"/>
                <a:cs typeface="Arial" charset="0"/>
              </a:rPr>
              <a:t>OPÇÃO II – APRENSIZAGEM ORGANIZACIONAL / SISTEMAS DE SUPORTE À DECISÃO</a:t>
            </a:r>
          </a:p>
          <a:p>
            <a:pPr>
              <a:lnSpc>
                <a:spcPct val="170000"/>
              </a:lnSpc>
            </a:pPr>
            <a:r>
              <a:rPr lang="pt-PT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Agent</a:t>
            </a:r>
            <a:r>
              <a:rPr lang="pt-PT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: </a:t>
            </a:r>
            <a:r>
              <a:rPr lang="pt-PT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Content</a:t>
            </a:r>
            <a:r>
              <a:rPr lang="pt-PT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Pipeline</a:t>
            </a:r>
            <a:endParaRPr lang="pt-PT" dirty="0">
              <a:solidFill>
                <a:schemeClr val="tx1"/>
              </a:solidFill>
              <a:highlight>
                <a:srgbClr val="00FFFF"/>
              </a:highlight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6" name="Subtítulo 2"/>
          <p:cNvSpPr txBox="1">
            <a:spLocks/>
          </p:cNvSpPr>
          <p:nvPr/>
        </p:nvSpPr>
        <p:spPr>
          <a:xfrm>
            <a:off x="762000" y="6394330"/>
            <a:ext cx="8191499" cy="276444"/>
          </a:xfrm>
          <a:prstGeom prst="rect">
            <a:avLst/>
          </a:prstGeom>
        </p:spPr>
        <p:txBody>
          <a:bodyPr vert="horz" lIns="68580" tIns="34290" rIns="68580" bIns="3429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sz="1100" b="1" u="sng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Licenciatura em Engenharia Informática</a:t>
            </a:r>
            <a:r>
              <a:rPr lang="pt-PT" sz="11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 | Escola Superior de Tecnologia e Gestão| Unidade Curricular: Op2-AO / SSD | Ano Letivo 2025/2026</a:t>
            </a: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130" y="392731"/>
            <a:ext cx="3872752" cy="962356"/>
          </a:xfrm>
          <a:prstGeom prst="rect">
            <a:avLst/>
          </a:prstGeom>
        </p:spPr>
      </p:pic>
      <p:sp>
        <p:nvSpPr>
          <p:cNvPr id="10" name="Subtítulo 2">
            <a:extLst>
              <a:ext uri="{FF2B5EF4-FFF2-40B4-BE49-F238E27FC236}">
                <a16:creationId xmlns:a16="http://schemas.microsoft.com/office/drawing/2014/main" id="{CDB7617E-BD9F-40A8-BCFA-781CEC4CEE46}"/>
              </a:ext>
            </a:extLst>
          </p:cNvPr>
          <p:cNvSpPr txBox="1">
            <a:spLocks/>
          </p:cNvSpPr>
          <p:nvPr/>
        </p:nvSpPr>
        <p:spPr>
          <a:xfrm>
            <a:off x="4953495" y="5615784"/>
            <a:ext cx="3580906" cy="63261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5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Abel Dantas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pt-PT" sz="150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adantas@fe.up.pt</a:t>
            </a:r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1178F43D-B1FB-6E63-635D-CF5FC43281AB}"/>
              </a:ext>
            </a:extLst>
          </p:cNvPr>
          <p:cNvSpPr txBox="1">
            <a:spLocks/>
          </p:cNvSpPr>
          <p:nvPr/>
        </p:nvSpPr>
        <p:spPr>
          <a:xfrm>
            <a:off x="1483178" y="5635668"/>
            <a:ext cx="3486150" cy="571436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31390 – Pedro Sousa \ sousa.pedro@ipvc.pt</a:t>
            </a:r>
          </a:p>
          <a:p>
            <a:pPr algn="l"/>
            <a:r>
              <a:rPr lang="pt-PT" sz="1050" dirty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32536 - João Barbosa \ joao.barbosa@ipvc.pt</a:t>
            </a: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l"/>
            <a:endParaRPr lang="pt-PT" sz="105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301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/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Opções mais baratas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/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4D42837-E70D-4C64-A8A7-E7F75150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CC873ECC-2D88-4A22-91F1-E738DF9BE5E9}"/>
              </a:ext>
            </a:extLst>
          </p:cNvPr>
          <p:cNvSpPr/>
          <p:nvPr/>
        </p:nvSpPr>
        <p:spPr>
          <a:xfrm>
            <a:off x="5545137" y="485011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698D1AFC-0FD6-4DFA-A381-805A758D4B1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002" y="-42664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2AE8AC60-74C9-4824-90A3-A23A5C2A3A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7A20E72-4407-4F3E-98C6-99518A20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2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AED8EEE7-4A6C-417E-A3EF-6BF0EA210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18C9A691-8CD2-4B06-B51B-700E27ED2FF7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31390 – Pedro Sousa | 32536 – João Barbosa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3E33BC33-E477-4247-B106-480F5560B06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E9B56CE-7DA8-4615-07BF-098121268E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876374"/>
              </p:ext>
            </p:extLst>
          </p:nvPr>
        </p:nvGraphicFramePr>
        <p:xfrm>
          <a:off x="267494" y="1748211"/>
          <a:ext cx="8609012" cy="36069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69671">
                  <a:extLst>
                    <a:ext uri="{9D8B030D-6E8A-4147-A177-3AD203B41FA5}">
                      <a16:colId xmlns:a16="http://schemas.microsoft.com/office/drawing/2014/main" val="180930366"/>
                    </a:ext>
                  </a:extLst>
                </a:gridCol>
                <a:gridCol w="1213061">
                  <a:extLst>
                    <a:ext uri="{9D8B030D-6E8A-4147-A177-3AD203B41FA5}">
                      <a16:colId xmlns:a16="http://schemas.microsoft.com/office/drawing/2014/main" val="3771297190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456450112"/>
                    </a:ext>
                  </a:extLst>
                </a:gridCol>
              </a:tblGrid>
              <a:tr h="594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02A43"/>
                          </a:solidFill>
                        </a:rPr>
                        <a:t>Oracle Cloud Free Tier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0€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Melhor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custo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puro: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máquinas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Always Free. Exige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configurar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VPS/Linux e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gerir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manutenção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901380"/>
                  </a:ext>
                </a:extLst>
              </a:tr>
              <a:tr h="594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02A43"/>
                          </a:solidFill>
                        </a:rPr>
                        <a:t>Render Free / </a:t>
                      </a:r>
                      <a:r>
                        <a:rPr lang="en-US" sz="1600" b="1" dirty="0" err="1">
                          <a:solidFill>
                            <a:srgbClr val="102A43"/>
                          </a:solidFill>
                        </a:rPr>
                        <a:t>Koyeb</a:t>
                      </a:r>
                      <a:r>
                        <a:rPr lang="en-US" sz="1600" b="1" dirty="0">
                          <a:solidFill>
                            <a:srgbClr val="102A43"/>
                          </a:solidFill>
                        </a:rPr>
                        <a:t> Free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0€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Bom para demo e testes.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Atenção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a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limites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, cold starts e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planos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gratuitos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5794457"/>
                  </a:ext>
                </a:extLst>
              </a:tr>
              <a:tr h="594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02A43"/>
                          </a:solidFill>
                        </a:rPr>
                        <a:t>Railway Free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~1€/mês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Deploy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muito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simples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por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GitHub;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modelo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por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créditos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/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uso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104619"/>
                  </a:ext>
                </a:extLst>
              </a:tr>
              <a:tr h="59470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02A43"/>
                          </a:solidFill>
                        </a:rPr>
                        <a:t>Hetzner CX23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3,99€/mês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VPS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europeu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muito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barato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;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excelente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preço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, mas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exige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DevOps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básico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7848133"/>
                  </a:ext>
                </a:extLst>
              </a:tr>
              <a:tr h="52074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rgbClr val="102A43"/>
                          </a:solidFill>
                        </a:rPr>
                        <a:t>DigitalOcean</a:t>
                      </a:r>
                      <a:r>
                        <a:rPr lang="en-US" sz="1600" b="1" dirty="0">
                          <a:solidFill>
                            <a:srgbClr val="102A43"/>
                          </a:solidFill>
                        </a:rPr>
                        <a:t> App Platform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5€/mês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Fácil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,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estável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e com deploy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por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GitHub.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Muito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forte para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aluno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com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créditos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2702723"/>
                  </a:ext>
                </a:extLst>
              </a:tr>
              <a:tr h="64899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rgbClr val="102A43"/>
                          </a:solidFill>
                        </a:rPr>
                        <a:t>Render Starter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600" dirty="0"/>
                        <a:t>7€/mês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Opção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simples e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previsível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para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manter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backend sempre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ligado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sem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gerir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 </a:t>
                      </a:r>
                      <a:r>
                        <a:rPr lang="en-US" sz="1600" dirty="0" err="1">
                          <a:solidFill>
                            <a:srgbClr val="1F2937"/>
                          </a:solidFill>
                        </a:rPr>
                        <a:t>servidor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</a:rPr>
                        <a:t>.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495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573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0929-76B6-BE06-1893-768C788FA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B9E85421-B664-6CB5-B754-61D789D20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Melhor opção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ADCDBFED-8FC8-D438-CAC6-3B89DD835102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212919E9-F65B-39F7-6D62-0D0D5F95A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96E8350-71FF-AE5C-FB2C-3AFAE242D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8C94A479-D289-5E6C-F87B-7AD7461ED115}"/>
              </a:ext>
            </a:extLst>
          </p:cNvPr>
          <p:cNvSpPr/>
          <p:nvPr/>
        </p:nvSpPr>
        <p:spPr>
          <a:xfrm>
            <a:off x="5545137" y="485011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47F6E1F-682A-CF71-45C6-7E12B203877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002" y="-42664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C42E0B2B-FB5A-EDB1-FD71-E46924102E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C8F33903-50FE-C1EA-41A5-9F8463729C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3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8B9102A-F393-AE14-A5AF-455357130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1B964F5D-E2F7-D928-3BC3-EFD3CC581FA0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31390 – Pedro Sousa | 32536 – João Barbosa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5FA45E8B-2AD2-5881-2A1B-B1FB8A7AD55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3" name="Shape 4">
            <a:extLst>
              <a:ext uri="{FF2B5EF4-FFF2-40B4-BE49-F238E27FC236}">
                <a16:creationId xmlns:a16="http://schemas.microsoft.com/office/drawing/2014/main" id="{62C4E436-F960-4B09-8967-86084592CB7D}"/>
              </a:ext>
            </a:extLst>
          </p:cNvPr>
          <p:cNvSpPr/>
          <p:nvPr/>
        </p:nvSpPr>
        <p:spPr>
          <a:xfrm>
            <a:off x="489768" y="1644147"/>
            <a:ext cx="4921250" cy="182880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8B9E647A-6EAF-1FBB-A598-FC9D63511B4C}"/>
              </a:ext>
            </a:extLst>
          </p:cNvPr>
          <p:cNvSpPr/>
          <p:nvPr/>
        </p:nvSpPr>
        <p:spPr>
          <a:xfrm>
            <a:off x="690936" y="1808739"/>
            <a:ext cx="45345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5BFF"/>
                </a:solidFill>
              </a:rPr>
              <a:t>Melhor para aluno</a:t>
            </a:r>
            <a:endParaRPr lang="en-US" sz="1500" dirty="0"/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AF8799D3-C67A-C621-BC72-79BEC49142C8}"/>
              </a:ext>
            </a:extLst>
          </p:cNvPr>
          <p:cNvSpPr/>
          <p:nvPr/>
        </p:nvSpPr>
        <p:spPr>
          <a:xfrm>
            <a:off x="690936" y="2211075"/>
            <a:ext cx="45345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Oracle Cloud Free Tier. Exige </a:t>
            </a:r>
            <a:r>
              <a:rPr lang="en-US" sz="1250" dirty="0" err="1">
                <a:solidFill>
                  <a:srgbClr val="1F2937"/>
                </a:solidFill>
              </a:rPr>
              <a:t>configuração</a:t>
            </a:r>
            <a:r>
              <a:rPr lang="en-US" sz="1250" dirty="0">
                <a:solidFill>
                  <a:srgbClr val="1F2937"/>
                </a:solidFill>
              </a:rPr>
              <a:t> mas é o </a:t>
            </a:r>
            <a:r>
              <a:rPr lang="en-US" sz="1250" dirty="0" err="1">
                <a:solidFill>
                  <a:srgbClr val="1F2937"/>
                </a:solidFill>
              </a:rPr>
              <a:t>melhor</a:t>
            </a:r>
            <a:r>
              <a:rPr lang="en-US" sz="1250" dirty="0">
                <a:solidFill>
                  <a:srgbClr val="1F2937"/>
                </a:solidFill>
              </a:rPr>
              <a:t> para </a:t>
            </a:r>
            <a:r>
              <a:rPr lang="en-US" sz="1250" dirty="0" err="1">
                <a:solidFill>
                  <a:srgbClr val="1F2937"/>
                </a:solidFill>
              </a:rPr>
              <a:t>projetos</a:t>
            </a:r>
            <a:r>
              <a:rPr lang="en-US" sz="1250" dirty="0">
                <a:solidFill>
                  <a:srgbClr val="1F2937"/>
                </a:solidFill>
              </a:rPr>
              <a:t> </a:t>
            </a:r>
            <a:r>
              <a:rPr lang="pt-PT" sz="1250" noProof="0" dirty="0">
                <a:solidFill>
                  <a:srgbClr val="1F2937"/>
                </a:solidFill>
              </a:rPr>
              <a:t>académicos</a:t>
            </a:r>
            <a:r>
              <a:rPr lang="en-US" sz="1250" dirty="0">
                <a:solidFill>
                  <a:srgbClr val="1F2937"/>
                </a:solidFill>
              </a:rPr>
              <a:t>.</a:t>
            </a:r>
            <a:endParaRPr lang="en-US" sz="1250" dirty="0"/>
          </a:p>
        </p:txBody>
      </p:sp>
      <p:sp>
        <p:nvSpPr>
          <p:cNvPr id="6" name="Shape 7">
            <a:extLst>
              <a:ext uri="{FF2B5EF4-FFF2-40B4-BE49-F238E27FC236}">
                <a16:creationId xmlns:a16="http://schemas.microsoft.com/office/drawing/2014/main" id="{958FB0F8-D0B6-24D0-59B1-D78CB408F8D3}"/>
              </a:ext>
            </a:extLst>
          </p:cNvPr>
          <p:cNvSpPr/>
          <p:nvPr/>
        </p:nvSpPr>
        <p:spPr>
          <a:xfrm>
            <a:off x="3733800" y="4088646"/>
            <a:ext cx="4930775" cy="182880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1CB40FE7-0948-5F9D-8011-827419A0448C}"/>
              </a:ext>
            </a:extLst>
          </p:cNvPr>
          <p:cNvSpPr/>
          <p:nvPr/>
        </p:nvSpPr>
        <p:spPr>
          <a:xfrm>
            <a:off x="3934968" y="4253238"/>
            <a:ext cx="454335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57C00"/>
                </a:solidFill>
              </a:rPr>
              <a:t>Melhor para empresa</a:t>
            </a:r>
            <a:endParaRPr lang="en-US" sz="15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2CE42503-362C-F5CA-AC78-43F62CEA63B1}"/>
              </a:ext>
            </a:extLst>
          </p:cNvPr>
          <p:cNvSpPr/>
          <p:nvPr/>
        </p:nvSpPr>
        <p:spPr>
          <a:xfrm>
            <a:off x="3934968" y="4655574"/>
            <a:ext cx="4543357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50" dirty="0">
                <a:solidFill>
                  <a:srgbClr val="1F2937"/>
                </a:solidFill>
              </a:rPr>
              <a:t>Render Starter </a:t>
            </a:r>
            <a:r>
              <a:rPr lang="en-US" sz="1250" dirty="0" err="1">
                <a:solidFill>
                  <a:srgbClr val="1F2937"/>
                </a:solidFill>
              </a:rPr>
              <a:t>ou</a:t>
            </a:r>
            <a:r>
              <a:rPr lang="en-US" sz="1250" dirty="0">
                <a:solidFill>
                  <a:srgbClr val="1F2937"/>
                </a:solidFill>
              </a:rPr>
              <a:t> </a:t>
            </a:r>
            <a:r>
              <a:rPr lang="en-US" sz="1250" dirty="0" err="1">
                <a:solidFill>
                  <a:srgbClr val="1F2937"/>
                </a:solidFill>
              </a:rPr>
              <a:t>DigitalOcean</a:t>
            </a:r>
            <a:r>
              <a:rPr lang="en-US" sz="1250" dirty="0">
                <a:solidFill>
                  <a:srgbClr val="1F2937"/>
                </a:solidFill>
              </a:rPr>
              <a:t> App </a:t>
            </a:r>
            <a:r>
              <a:rPr lang="en-US" sz="1250" dirty="0" err="1">
                <a:solidFill>
                  <a:srgbClr val="1F2937"/>
                </a:solidFill>
              </a:rPr>
              <a:t>Plataform</a:t>
            </a:r>
            <a:r>
              <a:rPr lang="en-US" sz="1250" dirty="0">
                <a:solidFill>
                  <a:srgbClr val="1F2937"/>
                </a:solidFill>
              </a:rPr>
              <a:t>. </a:t>
            </a:r>
            <a:r>
              <a:rPr lang="en-US" sz="1250" dirty="0" err="1">
                <a:solidFill>
                  <a:srgbClr val="1F2937"/>
                </a:solidFill>
              </a:rPr>
              <a:t>Fácil</a:t>
            </a:r>
            <a:r>
              <a:rPr lang="en-US" sz="1250" dirty="0">
                <a:solidFill>
                  <a:srgbClr val="1F2937"/>
                </a:solidFill>
              </a:rPr>
              <a:t> deploy e </a:t>
            </a:r>
            <a:r>
              <a:rPr lang="en-US" sz="1250" dirty="0" err="1">
                <a:solidFill>
                  <a:srgbClr val="1F2937"/>
                </a:solidFill>
              </a:rPr>
              <a:t>pouca</a:t>
            </a:r>
            <a:r>
              <a:rPr lang="en-US" sz="1250" dirty="0">
                <a:solidFill>
                  <a:srgbClr val="1F2937"/>
                </a:solidFill>
              </a:rPr>
              <a:t> </a:t>
            </a:r>
            <a:r>
              <a:rPr lang="en-US" sz="1250" dirty="0" err="1">
                <a:solidFill>
                  <a:srgbClr val="1F2937"/>
                </a:solidFill>
              </a:rPr>
              <a:t>manutenção</a:t>
            </a:r>
            <a:r>
              <a:rPr lang="en-US" sz="1250" dirty="0">
                <a:solidFill>
                  <a:srgbClr val="1F2937"/>
                </a:solidFill>
              </a:rPr>
              <a:t>. </a:t>
            </a:r>
          </a:p>
          <a:p>
            <a:r>
              <a:rPr lang="pt-PT" sz="1250" dirty="0">
                <a:solidFill>
                  <a:srgbClr val="1F2937"/>
                </a:solidFill>
              </a:rPr>
              <a:t>Caso exista alguém responsável pela gestão técnica do servidor, a opção mais económica passa a ser a </a:t>
            </a:r>
            <a:r>
              <a:rPr lang="pt-PT" sz="1250" dirty="0" err="1">
                <a:solidFill>
                  <a:srgbClr val="1F2937"/>
                </a:solidFill>
              </a:rPr>
              <a:t>Hetzner</a:t>
            </a:r>
            <a:r>
              <a:rPr lang="pt-PT" sz="1250" dirty="0">
                <a:solidFill>
                  <a:srgbClr val="1F2937"/>
                </a:solidFill>
              </a:rPr>
              <a:t>, apesar de exigir mais configuração e manutenção manual.</a:t>
            </a:r>
            <a:endParaRPr lang="en-US" sz="1250" dirty="0">
              <a:solidFill>
                <a:srgbClr val="1F293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45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39EF5-498A-C6C6-AB3D-48EF77FC6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Text Box 13">
            <a:extLst>
              <a:ext uri="{FF2B5EF4-FFF2-40B4-BE49-F238E27FC236}">
                <a16:creationId xmlns:a16="http://schemas.microsoft.com/office/drawing/2014/main" id="{5A10B3A9-17CF-4378-81BB-7375BF152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388" y="557213"/>
            <a:ext cx="698182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pt-PT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■</a:t>
            </a:r>
            <a:r>
              <a:rPr lang="pt-PT" sz="2000" b="1" dirty="0">
                <a:effectLst>
                  <a:outerShdw blurRad="38100" dist="38100" dir="2700000" algn="tl">
                    <a:srgbClr val="C0C0C0"/>
                  </a:outerShdw>
                </a:effectLst>
                <a:latin typeface="Arial"/>
                <a:cs typeface="Arial"/>
              </a:rPr>
              <a:t> Melhor opção</a:t>
            </a:r>
            <a:endParaRPr lang="pt-PT" sz="2000" b="1" dirty="0"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sp>
        <p:nvSpPr>
          <p:cNvPr id="10247" name="Line 15">
            <a:extLst>
              <a:ext uri="{FF2B5EF4-FFF2-40B4-BE49-F238E27FC236}">
                <a16:creationId xmlns:a16="http://schemas.microsoft.com/office/drawing/2014/main" id="{187B3E28-F030-2922-D00B-D173C9F4EB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825" y="0"/>
            <a:ext cx="0" cy="7651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pt-PT"/>
          </a:p>
        </p:txBody>
      </p:sp>
      <p:sp>
        <p:nvSpPr>
          <p:cNvPr id="9237" name="Text Box 21">
            <a:extLst>
              <a:ext uri="{FF2B5EF4-FFF2-40B4-BE49-F238E27FC236}">
                <a16:creationId xmlns:a16="http://schemas.microsoft.com/office/drawing/2014/main" id="{191DA8B9-D955-A388-67AF-73E3489121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44450"/>
            <a:ext cx="69818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pt-PT" sz="1400" b="1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rial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0C263A2-13E7-C992-A68D-8C96C07D7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5" y="904241"/>
            <a:ext cx="9014192" cy="266482"/>
          </a:xfrm>
          <a:prstGeom prst="rect">
            <a:avLst/>
          </a:prstGeom>
        </p:spPr>
      </p:pic>
      <p:sp>
        <p:nvSpPr>
          <p:cNvPr id="18" name="Rectângulo 19">
            <a:extLst>
              <a:ext uri="{FF2B5EF4-FFF2-40B4-BE49-F238E27FC236}">
                <a16:creationId xmlns:a16="http://schemas.microsoft.com/office/drawing/2014/main" id="{54D04C72-921D-6CD7-E4CE-A936C9C17F09}"/>
              </a:ext>
            </a:extLst>
          </p:cNvPr>
          <p:cNvSpPr/>
          <p:nvPr/>
        </p:nvSpPr>
        <p:spPr>
          <a:xfrm>
            <a:off x="5545137" y="485011"/>
            <a:ext cx="35052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pt-PT" sz="1100" b="1" cap="all" dirty="0">
                <a:highlight>
                  <a:srgbClr val="FFFF00"/>
                </a:highlight>
              </a:rPr>
              <a:t>ENGENHARIA INFORMÁTICA</a:t>
            </a:r>
            <a:endParaRPr lang="pt-PT" sz="1100" dirty="0">
              <a:highlight>
                <a:srgbClr val="FFFF00"/>
              </a:highlight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755A8EB4-36B4-5448-B508-4AC3A70D3A2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002" y="-42664"/>
            <a:ext cx="2689589" cy="668346"/>
          </a:xfrm>
          <a:prstGeom prst="rect">
            <a:avLst/>
          </a:prstGeom>
        </p:spPr>
      </p:pic>
      <p:sp>
        <p:nvSpPr>
          <p:cNvPr id="15" name="Text Box 10">
            <a:extLst>
              <a:ext uri="{FF2B5EF4-FFF2-40B4-BE49-F238E27FC236}">
                <a16:creationId xmlns:a16="http://schemas.microsoft.com/office/drawing/2014/main" id="{7FAEE960-BB6A-D181-08E0-37C27F6D0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8338" y="6296025"/>
            <a:ext cx="827087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pt-PT"/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041808DE-CB08-2D2A-F9D0-E95D474E5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7571" y="6496091"/>
            <a:ext cx="9366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pt-PT" sz="1000" dirty="0"/>
              <a:t>- </a:t>
            </a:r>
            <a:fld id="{1234D2FF-8FB9-47A1-B8C9-42A5F500BA2F}" type="slidenum">
              <a:rPr lang="pt-PT" sz="1000"/>
              <a:pPr algn="ctr"/>
              <a:t>4</a:t>
            </a:fld>
            <a:r>
              <a:rPr lang="pt-PT" sz="1000" dirty="0"/>
              <a:t> -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344A315B-1F02-A443-0534-A133B4CF4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20212"/>
            <a:ext cx="9144000" cy="253252"/>
          </a:xfrm>
          <a:prstGeom prst="rect">
            <a:avLst/>
          </a:prstGeom>
        </p:spPr>
      </p:pic>
      <p:sp>
        <p:nvSpPr>
          <p:cNvPr id="19" name="Subtítulo 2">
            <a:extLst>
              <a:ext uri="{FF2B5EF4-FFF2-40B4-BE49-F238E27FC236}">
                <a16:creationId xmlns:a16="http://schemas.microsoft.com/office/drawing/2014/main" id="{22E1A551-192D-A32E-087E-E0BD93DC632E}"/>
              </a:ext>
            </a:extLst>
          </p:cNvPr>
          <p:cNvSpPr txBox="1">
            <a:spLocks/>
          </p:cNvSpPr>
          <p:nvPr/>
        </p:nvSpPr>
        <p:spPr>
          <a:xfrm>
            <a:off x="836017" y="6524516"/>
            <a:ext cx="7698382" cy="162409"/>
          </a:xfrm>
          <a:prstGeom prst="rect">
            <a:avLst/>
          </a:prstGeom>
        </p:spPr>
        <p:txBody>
          <a:bodyPr vert="horz" lIns="68580" tIns="34290" rIns="68580" bIns="3429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PT" sz="900" dirty="0">
                <a:latin typeface="Arial" charset="0"/>
                <a:ea typeface="Arial" charset="0"/>
                <a:cs typeface="Arial" charset="0"/>
              </a:rPr>
              <a:t>@2026, 31390 – Pedro Sousa | 32536 – João Barbosa | </a:t>
            </a:r>
            <a:r>
              <a:rPr lang="pt-PT" sz="900" b="1" dirty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Unidade Curricular: IOp2-AO / SSD </a:t>
            </a:r>
            <a:r>
              <a:rPr lang="pt-PT" sz="900" dirty="0">
                <a:latin typeface="Arial" charset="0"/>
                <a:ea typeface="Arial" charset="0"/>
                <a:cs typeface="Arial" charset="0"/>
              </a:rPr>
              <a:t>– Ano Letivo 2025/2026 </a:t>
            </a:r>
            <a:endParaRPr lang="pt-PT" sz="9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491B07F9-F29E-85FB-8C56-73D7275A94D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125" y="6488336"/>
            <a:ext cx="545959" cy="199802"/>
          </a:xfrm>
          <a:prstGeom prst="rect">
            <a:avLst/>
          </a:prstGeom>
        </p:spPr>
      </p:pic>
      <p:sp>
        <p:nvSpPr>
          <p:cNvPr id="2" name="Shape 4">
            <a:extLst>
              <a:ext uri="{FF2B5EF4-FFF2-40B4-BE49-F238E27FC236}">
                <a16:creationId xmlns:a16="http://schemas.microsoft.com/office/drawing/2014/main" id="{E67FE3B4-0370-E227-A001-4D77C56B96B6}"/>
              </a:ext>
            </a:extLst>
          </p:cNvPr>
          <p:cNvSpPr/>
          <p:nvPr/>
        </p:nvSpPr>
        <p:spPr>
          <a:xfrm>
            <a:off x="1828800" y="1379803"/>
            <a:ext cx="5120640" cy="1051560"/>
          </a:xfrm>
          <a:prstGeom prst="rect">
            <a:avLst/>
          </a:prstGeom>
          <a:solidFill>
            <a:srgbClr val="EAF1FF"/>
          </a:solidFill>
          <a:ln w="12700">
            <a:solidFill>
              <a:srgbClr val="EAF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1A28C231-5509-FC1A-7377-AD43BCC393FD}"/>
              </a:ext>
            </a:extLst>
          </p:cNvPr>
          <p:cNvSpPr/>
          <p:nvPr/>
        </p:nvSpPr>
        <p:spPr>
          <a:xfrm>
            <a:off x="2029968" y="1544395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E5BFF"/>
                </a:solidFill>
              </a:rPr>
              <a:t>StartUP Voucher</a:t>
            </a:r>
            <a:endParaRPr lang="en-US" sz="15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948C812-4BDA-E3AB-C6B2-4176592033D3}"/>
              </a:ext>
            </a:extLst>
          </p:cNvPr>
          <p:cNvSpPr/>
          <p:nvPr/>
        </p:nvSpPr>
        <p:spPr>
          <a:xfrm>
            <a:off x="2029968" y="1946731"/>
            <a:ext cx="47183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Bolsa de 900€/mês até 9 meses, mentoria e prémios para jovens projetos tecnológicos.</a:t>
            </a:r>
            <a:endParaRPr lang="en-US" sz="12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D6F03F8-968D-4C79-B20E-75E92285BFF6}"/>
              </a:ext>
            </a:extLst>
          </p:cNvPr>
          <p:cNvSpPr/>
          <p:nvPr/>
        </p:nvSpPr>
        <p:spPr>
          <a:xfrm>
            <a:off x="1801368" y="3879826"/>
            <a:ext cx="5120640" cy="1051560"/>
          </a:xfrm>
          <a:prstGeom prst="rect">
            <a:avLst/>
          </a:prstGeom>
          <a:solidFill>
            <a:srgbClr val="EAF7EF"/>
          </a:solidFill>
          <a:ln w="12700">
            <a:solidFill>
              <a:srgbClr val="EAF7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4822390-56F1-D3C2-A12E-39FB706FFCC6}"/>
              </a:ext>
            </a:extLst>
          </p:cNvPr>
          <p:cNvSpPr/>
          <p:nvPr/>
        </p:nvSpPr>
        <p:spPr>
          <a:xfrm>
            <a:off x="2002536" y="4044418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2E7D32"/>
                </a:solidFill>
              </a:rPr>
              <a:t>Vouchers para Startups</a:t>
            </a:r>
            <a:endParaRPr lang="en-US" sz="15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606F6A3-883F-5F90-BBE1-2CF9243CF656}"/>
              </a:ext>
            </a:extLst>
          </p:cNvPr>
          <p:cNvSpPr/>
          <p:nvPr/>
        </p:nvSpPr>
        <p:spPr>
          <a:xfrm>
            <a:off x="2002536" y="4446754"/>
            <a:ext cx="47183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Apoio de 30.000€ por beneficiário para novos produtos digitais/tecnológicos.</a:t>
            </a:r>
            <a:endParaRPr lang="en-US" sz="125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B713BAC3-4CFA-ECCE-28AB-0CF73173BD03}"/>
              </a:ext>
            </a:extLst>
          </p:cNvPr>
          <p:cNvSpPr/>
          <p:nvPr/>
        </p:nvSpPr>
        <p:spPr>
          <a:xfrm>
            <a:off x="1828800" y="2632531"/>
            <a:ext cx="5120640" cy="105156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27A9A883-6839-C8FE-39A8-82BD97C6102C}"/>
              </a:ext>
            </a:extLst>
          </p:cNvPr>
          <p:cNvSpPr/>
          <p:nvPr/>
        </p:nvSpPr>
        <p:spPr>
          <a:xfrm>
            <a:off x="2029968" y="2797123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F57C00"/>
                </a:solidFill>
              </a:rPr>
              <a:t>Vale de Incubação</a:t>
            </a:r>
            <a:endParaRPr lang="en-US" sz="15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A1086B53-7764-43A8-EC37-1A021D4489A6}"/>
              </a:ext>
            </a:extLst>
          </p:cNvPr>
          <p:cNvSpPr/>
          <p:nvPr/>
        </p:nvSpPr>
        <p:spPr>
          <a:xfrm>
            <a:off x="2029968" y="3199459"/>
            <a:ext cx="47183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Apoio a empresas com menos de um ano, incluindo incubação e digitalização.</a:t>
            </a:r>
            <a:endParaRPr lang="en-US" sz="125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F9EBF1CA-EE2F-AE05-EB17-FA1DDF6BEEE5}"/>
              </a:ext>
            </a:extLst>
          </p:cNvPr>
          <p:cNvSpPr/>
          <p:nvPr/>
        </p:nvSpPr>
        <p:spPr>
          <a:xfrm>
            <a:off x="1828800" y="5132642"/>
            <a:ext cx="512064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6434BE50-2EB4-F83E-8C27-A65842E14818}"/>
              </a:ext>
            </a:extLst>
          </p:cNvPr>
          <p:cNvSpPr/>
          <p:nvPr/>
        </p:nvSpPr>
        <p:spPr>
          <a:xfrm>
            <a:off x="2029968" y="5297234"/>
            <a:ext cx="4718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500" b="1" dirty="0">
                <a:solidFill>
                  <a:srgbClr val="102A43"/>
                </a:solidFill>
              </a:rPr>
              <a:t>Voucher Deep Tech</a:t>
            </a:r>
            <a:endParaRPr lang="en-US" sz="15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8213CB92-0B78-CA32-D7CC-7466CC67E051}"/>
              </a:ext>
            </a:extLst>
          </p:cNvPr>
          <p:cNvSpPr/>
          <p:nvPr/>
        </p:nvSpPr>
        <p:spPr>
          <a:xfrm>
            <a:off x="2029968" y="5699570"/>
            <a:ext cx="4718304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</a:rPr>
              <a:t>Apoio de 60.000€ a fundo perdido para startups deep tech elegíveis.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3599096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000250" y="5867400"/>
            <a:ext cx="5143500" cy="489738"/>
          </a:xfrm>
        </p:spPr>
        <p:txBody>
          <a:bodyPr>
            <a:normAutofit/>
          </a:bodyPr>
          <a:lstStyle/>
          <a:p>
            <a:r>
              <a:rPr lang="pt-PT" sz="1500" dirty="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www.ipvc.pt</a:t>
            </a:r>
            <a:endParaRPr lang="pt-PT" sz="150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606" y="3409950"/>
            <a:ext cx="4048787" cy="100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2599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4616</TotalTime>
  <Words>506</Words>
  <Application>Microsoft Office PowerPoint</Application>
  <PresentationFormat>Apresentação no Ecrã (4:3)</PresentationFormat>
  <Paragraphs>57</Paragraphs>
  <Slides>5</Slides>
  <Notes>3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8" baseType="lpstr">
      <vt:lpstr>Arial</vt:lpstr>
      <vt:lpstr>Calibri</vt:lpstr>
      <vt:lpstr>Tema do Office</vt:lpstr>
      <vt:lpstr>LICENCIATURA EM ENGENHARIA INFORMÁTICA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Jorge Ribeiro</dc:creator>
  <cp:lastModifiedBy>Pedro Sousa</cp:lastModifiedBy>
  <cp:revision>284</cp:revision>
  <cp:lastPrinted>2021-02-22T18:49:33Z</cp:lastPrinted>
  <dcterms:created xsi:type="dcterms:W3CDTF">2011-05-31T09:21:51Z</dcterms:created>
  <dcterms:modified xsi:type="dcterms:W3CDTF">2026-06-14T14:53:29Z</dcterms:modified>
</cp:coreProperties>
</file>